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554876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26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849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93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412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256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76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08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365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09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985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7364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11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511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330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4823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371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774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lydia-khisa" TargetMode="External"/><Relationship Id="rId2" Type="http://schemas.openxmlformats.org/officeDocument/2006/relationships/hyperlink" Target="https://moringa.instructure.com/courses/1316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38944"/>
            <a:ext cx="7772400" cy="1828800"/>
          </a:xfrm>
        </p:spPr>
        <p:txBody>
          <a:bodyPr>
            <a:normAutofit/>
          </a:bodyPr>
          <a:lstStyle/>
          <a:p>
            <a:pPr algn="ctr"/>
            <a:r>
              <a:rPr sz="4400" dirty="0"/>
              <a:t>Telco Customer Churn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7857" y="3429000"/>
            <a:ext cx="5279572" cy="2862943"/>
          </a:xfrm>
        </p:spPr>
        <p:txBody>
          <a:bodyPr>
            <a:normAutofit/>
          </a:bodyPr>
          <a:lstStyle/>
          <a:p>
            <a:pPr algn="ctr" fontAlgn="t"/>
            <a:r>
              <a:rPr lang="en-US" dirty="0">
                <a:hlinkClick r:id="rId2"/>
              </a:rPr>
              <a:t>DSF-FT14BP3Rm</a:t>
            </a:r>
            <a:endParaRPr lang="en-US" dirty="0"/>
          </a:p>
          <a:p>
            <a:pPr algn="ctr"/>
            <a:r>
              <a:rPr lang="en-US" dirty="0"/>
              <a:t>PRESENTATION BY : LYDIAH KHISA</a:t>
            </a:r>
          </a:p>
          <a:p>
            <a:pPr algn="ctr"/>
            <a:r>
              <a:rPr lang="en-US" dirty="0" err="1"/>
              <a:t>Linkedin</a:t>
            </a:r>
            <a:r>
              <a:rPr lang="en-US" dirty="0"/>
              <a:t>: </a:t>
            </a:r>
            <a:r>
              <a:rPr lang="en-GB" u="sng" dirty="0">
                <a:hlinkClick r:id="rId3"/>
              </a:rPr>
              <a:t>https://www.linkedin.com/in/lydia-khisa</a:t>
            </a:r>
            <a:r>
              <a:rPr lang="en-GB" dirty="0"/>
              <a:t> </a:t>
            </a:r>
          </a:p>
          <a:p>
            <a:pPr algn="ctr"/>
            <a:r>
              <a:rPr lang="en-US" u="sng" dirty="0" err="1"/>
              <a:t>Github</a:t>
            </a:r>
            <a:r>
              <a:rPr lang="en-US" u="sng" dirty="0"/>
              <a:t>: https://github.com/klydia22</a:t>
            </a:r>
            <a:endParaRPr lang="en-US" dirty="0"/>
          </a:p>
          <a:p>
            <a:endParaRPr lang="en-GB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Customer churn is a </a:t>
            </a:r>
            <a:r>
              <a:rPr lang="en-US" dirty="0"/>
              <a:t>critical</a:t>
            </a:r>
            <a:r>
              <a:rPr dirty="0"/>
              <a:t> revenue challenge in telecommunications.</a:t>
            </a:r>
          </a:p>
          <a:p>
            <a:pPr algn="just"/>
            <a:r>
              <a:rPr dirty="0"/>
              <a:t>Acquiring new customers is more </a:t>
            </a:r>
            <a:r>
              <a:rPr lang="en-US" dirty="0"/>
              <a:t>costly</a:t>
            </a:r>
            <a:r>
              <a:rPr dirty="0"/>
              <a:t> than retaining existing ones.</a:t>
            </a:r>
          </a:p>
          <a:p>
            <a:pPr algn="just"/>
            <a:r>
              <a:rPr lang="en-US" dirty="0"/>
              <a:t>The g</a:t>
            </a:r>
            <a:r>
              <a:rPr dirty="0"/>
              <a:t>oal</a:t>
            </a:r>
            <a:r>
              <a:rPr lang="en-US" dirty="0"/>
              <a:t> is to</a:t>
            </a:r>
            <a:r>
              <a:rPr dirty="0"/>
              <a:t> predict churn early to </a:t>
            </a:r>
            <a:r>
              <a:rPr lang="en-US" dirty="0"/>
              <a:t>device</a:t>
            </a:r>
            <a:r>
              <a:rPr dirty="0"/>
              <a:t> proactive retention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project used </a:t>
            </a:r>
            <a:r>
              <a:rPr dirty="0"/>
              <a:t>Telco Customer Churn dataset with 7,043 customer records.</a:t>
            </a:r>
          </a:p>
          <a:p>
            <a:pPr algn="just"/>
            <a:r>
              <a:rPr lang="en-US" dirty="0"/>
              <a:t>Data </a:t>
            </a:r>
            <a:r>
              <a:rPr dirty="0"/>
              <a:t>Features include demographics, services, billing, and contract information.</a:t>
            </a:r>
          </a:p>
          <a:p>
            <a:pPr algn="just"/>
            <a:r>
              <a:rPr dirty="0"/>
              <a:t>Target variable indicates whether a customer churned.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Exploratory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Churners are the minority class, </a:t>
            </a:r>
            <a:r>
              <a:rPr lang="en-US" dirty="0"/>
              <a:t>hence, </a:t>
            </a:r>
            <a:r>
              <a:rPr dirty="0"/>
              <a:t>creating class imbalance.</a:t>
            </a:r>
          </a:p>
          <a:p>
            <a:pPr algn="just"/>
            <a:r>
              <a:rPr dirty="0"/>
              <a:t>Month-to-month contracts show significantly higher churn rates.</a:t>
            </a:r>
          </a:p>
          <a:p>
            <a:pPr algn="just"/>
            <a:r>
              <a:rPr dirty="0"/>
              <a:t>Customers with low tenure are more likely to churn.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Separated numeric and categorical features.</a:t>
            </a:r>
          </a:p>
          <a:p>
            <a:pPr algn="just"/>
            <a:r>
              <a:rPr dirty="0"/>
              <a:t>Applied imputation, scaling, and encoding using pipelines.</a:t>
            </a:r>
          </a:p>
          <a:p>
            <a:pPr algn="just"/>
            <a:r>
              <a:rPr lang="en-US" dirty="0"/>
              <a:t>Used </a:t>
            </a:r>
            <a:r>
              <a:rPr dirty="0" err="1"/>
              <a:t>ColumnTransformer</a:t>
            </a:r>
            <a:r>
              <a:rPr dirty="0"/>
              <a:t> to ensure consistent preprocessing.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Handling Class Imbalance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Imbalanced classes bias models toward non-churn predictions.</a:t>
            </a:r>
          </a:p>
          <a:p>
            <a:pPr algn="just"/>
            <a:r>
              <a:rPr dirty="0"/>
              <a:t>SMOTE used to oversample churners in training data only.</a:t>
            </a:r>
          </a:p>
          <a:p>
            <a:pPr algn="just"/>
            <a:r>
              <a:rPr dirty="0"/>
              <a:t>Improved detection of churn cases.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Data analyzed using two models; Logistic regression and Decision Tree.</a:t>
            </a:r>
          </a:p>
          <a:p>
            <a:pPr algn="just"/>
            <a:r>
              <a:rPr dirty="0"/>
              <a:t>Logistic Regression used for baseline and interpretability.</a:t>
            </a:r>
          </a:p>
          <a:p>
            <a:pPr algn="just"/>
            <a:r>
              <a:rPr dirty="0"/>
              <a:t>Decision Tree used to capture non-linear churn patterns.</a:t>
            </a:r>
          </a:p>
          <a:p>
            <a:pPr algn="just"/>
            <a:r>
              <a:rPr dirty="0"/>
              <a:t>Models tuned using </a:t>
            </a:r>
            <a:r>
              <a:rPr dirty="0" err="1"/>
              <a:t>GridSearchCV</a:t>
            </a:r>
            <a:r>
              <a:rPr dirty="0"/>
              <a:t> optimizing Recall.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Baseline models achieved limited Recall.</a:t>
            </a:r>
          </a:p>
          <a:p>
            <a:pPr algn="just"/>
            <a:r>
              <a:rPr dirty="0"/>
              <a:t>Logistic Regression + SMOTE achieved highest Recall (~79%).</a:t>
            </a:r>
          </a:p>
          <a:p>
            <a:pPr algn="just"/>
            <a:r>
              <a:rPr dirty="0"/>
              <a:t>Decision Tree + SMOTE achieved comparable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Fiber optic internet service shows higher churn risk.</a:t>
            </a:r>
          </a:p>
          <a:p>
            <a:pPr algn="just"/>
            <a:r>
              <a:rPr dirty="0"/>
              <a:t>Contract type and tenure strongly influence churn.</a:t>
            </a:r>
          </a:p>
          <a:p>
            <a:pPr algn="just"/>
            <a:r>
              <a:rPr dirty="0"/>
              <a:t>Long-term contracts reduce likelihood of churn.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Target month-to-month customers with personalized offers.</a:t>
            </a:r>
          </a:p>
          <a:p>
            <a:pPr algn="just"/>
            <a:r>
              <a:rPr lang="en-US" dirty="0"/>
              <a:t>Review fiber optic service pricing and quality.</a:t>
            </a:r>
          </a:p>
          <a:p>
            <a:pPr algn="just"/>
            <a:r>
              <a:rPr dirty="0"/>
              <a:t>Improve onboarding and engagement for new customers.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Data-driven strategies support long-term revenue growth.</a:t>
            </a:r>
          </a:p>
          <a:p>
            <a:pPr algn="just"/>
            <a:r>
              <a:rPr dirty="0"/>
              <a:t>Churn prediction enables proactive customer retention.</a:t>
            </a:r>
          </a:p>
          <a:p>
            <a:pPr algn="just"/>
            <a:r>
              <a:rPr dirty="0"/>
              <a:t>Recall-focused modeling aligns with business priorities.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23</TotalTime>
  <Words>325</Words>
  <Application>Microsoft Office PowerPoint</Application>
  <PresentationFormat>On-screen Show (4:3)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Corbel</vt:lpstr>
      <vt:lpstr>Parallax</vt:lpstr>
      <vt:lpstr>Telco Customer Churn Prediction</vt:lpstr>
      <vt:lpstr>Problem Statement</vt:lpstr>
      <vt:lpstr>Dataset Overview</vt:lpstr>
      <vt:lpstr>Exploratory Analysis</vt:lpstr>
      <vt:lpstr>Data Preprocessing</vt:lpstr>
      <vt:lpstr>Handling Class Imbalance</vt:lpstr>
      <vt:lpstr>Modeling Approach</vt:lpstr>
      <vt:lpstr>Model Performance</vt:lpstr>
      <vt:lpstr>Key Insights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klydia22.lk@gmail.com</cp:lastModifiedBy>
  <cp:revision>2</cp:revision>
  <dcterms:created xsi:type="dcterms:W3CDTF">2013-01-27T09:14:16Z</dcterms:created>
  <dcterms:modified xsi:type="dcterms:W3CDTF">2025-12-18T19:39:54Z</dcterms:modified>
  <cp:category/>
</cp:coreProperties>
</file>