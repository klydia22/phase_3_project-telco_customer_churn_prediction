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150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203200" y="0"/>
            <a:ext cx="3778250" cy="6858001"/>
            <a:chOff x="203200" y="0"/>
            <a:chExt cx="3778250" cy="6858001"/>
          </a:xfrm>
        </p:grpSpPr>
        <p:sp>
          <p:nvSpPr>
            <p:cNvPr id="14" name="Freeform 6"/>
            <p:cNvSpPr/>
            <p:nvPr/>
          </p:nvSpPr>
          <p:spPr bwMode="auto">
            <a:xfrm>
              <a:off x="641350" y="0"/>
              <a:ext cx="1365250" cy="3971925"/>
            </a:xfrm>
            <a:custGeom>
              <a:avLst/>
              <a:gdLst/>
              <a:ahLst/>
              <a:cxnLst/>
              <a:rect l="0" t="0" r="r" b="b"/>
              <a:pathLst>
                <a:path w="860" h="2502">
                  <a:moveTo>
                    <a:pt x="0" y="2445"/>
                  </a:moveTo>
                  <a:lnTo>
                    <a:pt x="228" y="2502"/>
                  </a:lnTo>
                  <a:lnTo>
                    <a:pt x="860" y="0"/>
                  </a:lnTo>
                  <a:lnTo>
                    <a:pt x="620" y="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5" name="Freeform 7"/>
            <p:cNvSpPr/>
            <p:nvPr/>
          </p:nvSpPr>
          <p:spPr bwMode="auto">
            <a:xfrm>
              <a:off x="203200" y="0"/>
              <a:ext cx="1336675" cy="3862388"/>
            </a:xfrm>
            <a:custGeom>
              <a:avLst/>
              <a:gdLst/>
              <a:ahLst/>
              <a:cxnLst/>
              <a:rect l="0" t="0" r="r" b="b"/>
              <a:pathLst>
                <a:path w="842" h="2433">
                  <a:moveTo>
                    <a:pt x="842" y="0"/>
                  </a:moveTo>
                  <a:lnTo>
                    <a:pt x="602" y="0"/>
                  </a:lnTo>
                  <a:lnTo>
                    <a:pt x="0" y="2376"/>
                  </a:lnTo>
                  <a:lnTo>
                    <a:pt x="228" y="2433"/>
                  </a:lnTo>
                  <a:lnTo>
                    <a:pt x="842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6" name="Freeform 8"/>
            <p:cNvSpPr/>
            <p:nvPr/>
          </p:nvSpPr>
          <p:spPr bwMode="auto">
            <a:xfrm>
              <a:off x="207963" y="3776663"/>
              <a:ext cx="1936750" cy="3081338"/>
            </a:xfrm>
            <a:custGeom>
              <a:avLst/>
              <a:gdLst/>
              <a:ahLst/>
              <a:cxnLst/>
              <a:rect l="0" t="0" r="r" b="b"/>
              <a:pathLst>
                <a:path w="1220" h="1941">
                  <a:moveTo>
                    <a:pt x="0" y="0"/>
                  </a:moveTo>
                  <a:lnTo>
                    <a:pt x="1166" y="1941"/>
                  </a:lnTo>
                  <a:lnTo>
                    <a:pt x="1220" y="19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0" name="Freeform 9"/>
            <p:cNvSpPr/>
            <p:nvPr/>
          </p:nvSpPr>
          <p:spPr bwMode="auto">
            <a:xfrm>
              <a:off x="646113" y="3886200"/>
              <a:ext cx="2373313" cy="2971800"/>
            </a:xfrm>
            <a:custGeom>
              <a:avLst/>
              <a:gdLst/>
              <a:ahLst/>
              <a:cxnLst/>
              <a:rect l="0" t="0" r="r" b="b"/>
              <a:pathLst>
                <a:path w="1495" h="1872">
                  <a:moveTo>
                    <a:pt x="1495" y="1872"/>
                  </a:moveTo>
                  <a:lnTo>
                    <a:pt x="0" y="0"/>
                  </a:lnTo>
                  <a:lnTo>
                    <a:pt x="1442" y="1872"/>
                  </a:lnTo>
                  <a:lnTo>
                    <a:pt x="1495" y="1872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1" name="Freeform 10"/>
            <p:cNvSpPr/>
            <p:nvPr/>
          </p:nvSpPr>
          <p:spPr bwMode="auto">
            <a:xfrm>
              <a:off x="641350" y="3881438"/>
              <a:ext cx="3340100" cy="2976563"/>
            </a:xfrm>
            <a:custGeom>
              <a:avLst/>
              <a:gdLst/>
              <a:ahLst/>
              <a:cxnLst/>
              <a:rect l="0" t="0" r="r" b="b"/>
              <a:pathLst>
                <a:path w="2104" h="1875">
                  <a:moveTo>
                    <a:pt x="0" y="0"/>
                  </a:moveTo>
                  <a:lnTo>
                    <a:pt x="3" y="3"/>
                  </a:lnTo>
                  <a:lnTo>
                    <a:pt x="1498" y="1875"/>
                  </a:lnTo>
                  <a:lnTo>
                    <a:pt x="2104" y="1875"/>
                  </a:lnTo>
                  <a:lnTo>
                    <a:pt x="228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2" name="Freeform 11"/>
            <p:cNvSpPr/>
            <p:nvPr/>
          </p:nvSpPr>
          <p:spPr bwMode="auto">
            <a:xfrm>
              <a:off x="203200" y="3771900"/>
              <a:ext cx="2660650" cy="3086100"/>
            </a:xfrm>
            <a:custGeom>
              <a:avLst/>
              <a:gdLst/>
              <a:ahLst/>
              <a:cxnLst/>
              <a:rect l="0" t="0" r="r" b="b"/>
              <a:pathLst>
                <a:path w="1676" h="1944">
                  <a:moveTo>
                    <a:pt x="1676" y="1944"/>
                  </a:moveTo>
                  <a:lnTo>
                    <a:pt x="264" y="111"/>
                  </a:lnTo>
                  <a:lnTo>
                    <a:pt x="225" y="60"/>
                  </a:lnTo>
                  <a:lnTo>
                    <a:pt x="228" y="60"/>
                  </a:lnTo>
                  <a:lnTo>
                    <a:pt x="264" y="111"/>
                  </a:lnTo>
                  <a:lnTo>
                    <a:pt x="234" y="69"/>
                  </a:lnTo>
                  <a:lnTo>
                    <a:pt x="228" y="57"/>
                  </a:lnTo>
                  <a:lnTo>
                    <a:pt x="222" y="54"/>
                  </a:lnTo>
                  <a:lnTo>
                    <a:pt x="0" y="0"/>
                  </a:lnTo>
                  <a:lnTo>
                    <a:pt x="3" y="3"/>
                  </a:lnTo>
                  <a:lnTo>
                    <a:pt x="1223" y="1944"/>
                  </a:lnTo>
                  <a:lnTo>
                    <a:pt x="1676" y="1944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9673" y="914401"/>
            <a:ext cx="6947127" cy="3488266"/>
          </a:xfrm>
        </p:spPr>
        <p:txBody>
          <a:bodyPr anchor="b">
            <a:normAutofit/>
          </a:bodyPr>
          <a:lstStyle>
            <a:lvl1pPr algn="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238" y="4402666"/>
            <a:ext cx="5762563" cy="1364531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25773" y="6117336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623733" y="6117336"/>
            <a:ext cx="3609438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5320" y="6117336"/>
            <a:ext cx="41148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3" name="Freeform 12"/>
          <p:cNvSpPr/>
          <p:nvPr/>
        </p:nvSpPr>
        <p:spPr bwMode="auto">
          <a:xfrm>
            <a:off x="203200" y="3771900"/>
            <a:ext cx="361950" cy="90488"/>
          </a:xfrm>
          <a:custGeom>
            <a:avLst/>
            <a:gdLst/>
            <a:ahLst/>
            <a:cxnLst/>
            <a:rect l="0" t="0" r="r" b="b"/>
            <a:pathLst>
              <a:path w="228" h="57">
                <a:moveTo>
                  <a:pt x="228" y="57"/>
                </a:moveTo>
                <a:lnTo>
                  <a:pt x="0" y="0"/>
                </a:lnTo>
                <a:lnTo>
                  <a:pt x="222" y="54"/>
                </a:lnTo>
                <a:lnTo>
                  <a:pt x="228" y="57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  <p:sp>
        <p:nvSpPr>
          <p:cNvPr id="24" name="Freeform 13"/>
          <p:cNvSpPr/>
          <p:nvPr/>
        </p:nvSpPr>
        <p:spPr bwMode="auto">
          <a:xfrm>
            <a:off x="560388" y="3867150"/>
            <a:ext cx="61913" cy="80963"/>
          </a:xfrm>
          <a:custGeom>
            <a:avLst/>
            <a:gdLst/>
            <a:ahLst/>
            <a:cxnLst/>
            <a:rect l="0" t="0" r="r" b="b"/>
            <a:pathLst>
              <a:path w="39" h="51">
                <a:moveTo>
                  <a:pt x="0" y="0"/>
                </a:moveTo>
                <a:lnTo>
                  <a:pt x="39" y="51"/>
                </a:lnTo>
                <a:lnTo>
                  <a:pt x="3" y="0"/>
                </a:lnTo>
                <a:lnTo>
                  <a:pt x="0" y="0"/>
                </a:lnTo>
                <a:close/>
              </a:path>
            </a:pathLst>
          </a:custGeom>
          <a:solidFill>
            <a:srgbClr val="29ABE2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</p:sp>
    </p:spTree>
    <p:extLst>
      <p:ext uri="{BB962C8B-B14F-4D97-AF65-F5344CB8AC3E}">
        <p14:creationId xmlns:p14="http://schemas.microsoft.com/office/powerpoint/2010/main" val="35548761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2133" y="2667000"/>
            <a:ext cx="7704667" cy="333281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44329" y="6108173"/>
            <a:ext cx="8574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72647" y="6108173"/>
            <a:ext cx="531451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58967" y="6108173"/>
            <a:ext cx="42783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26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6995" y="2666998"/>
            <a:ext cx="6699805" cy="2360071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86998" y="5027070"/>
            <a:ext cx="6699802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273317" y="6116070"/>
            <a:ext cx="413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491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133" y="685801"/>
            <a:ext cx="7704667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2133" y="2667000"/>
            <a:ext cx="3739896" cy="336867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46904" y="2667000"/>
            <a:ext cx="3739896" cy="3346824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993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9481" y="2658533"/>
            <a:ext cx="345629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3523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61710" y="2667000"/>
            <a:ext cx="3467806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57266" y="3335336"/>
            <a:ext cx="3672248" cy="2665259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412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256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476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1600200"/>
            <a:ext cx="2662534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47553" y="685800"/>
            <a:ext cx="4681962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4" y="2971800"/>
            <a:ext cx="2662534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083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2332" y="1752599"/>
            <a:ext cx="4070679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97495" y="914400"/>
            <a:ext cx="2461371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2332" y="3124199"/>
            <a:ext cx="4070679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365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3" y="4732865"/>
            <a:ext cx="751599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89975" y="932112"/>
            <a:ext cx="6171065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3523" y="5299603"/>
            <a:ext cx="751599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09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4" y="685800"/>
            <a:ext cx="751599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985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598235" y="3428999"/>
            <a:ext cx="6631128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3" y="4343400"/>
            <a:ext cx="751599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7364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3308581"/>
            <a:ext cx="751598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7381"/>
            <a:ext cx="751599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9119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969421" y="863023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2197" y="2819399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741" y="685801"/>
            <a:ext cx="6974115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5" y="3886200"/>
            <a:ext cx="751599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775200"/>
            <a:ext cx="751599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3511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3525" y="685801"/>
            <a:ext cx="7515991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13524" y="3505200"/>
            <a:ext cx="7515992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13524" y="4343400"/>
            <a:ext cx="7515992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7330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4823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301393" y="685800"/>
            <a:ext cx="1328123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13524" y="685800"/>
            <a:ext cx="6016373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371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0"/>
            <a:ext cx="2132013" cy="6858001"/>
            <a:chOff x="0" y="0"/>
            <a:chExt cx="2132013" cy="6858001"/>
          </a:xfrm>
        </p:grpSpPr>
        <p:sp>
          <p:nvSpPr>
            <p:cNvPr id="15" name="Freeform 6"/>
            <p:cNvSpPr/>
            <p:nvPr/>
          </p:nvSpPr>
          <p:spPr bwMode="auto">
            <a:xfrm>
              <a:off x="0" y="0"/>
              <a:ext cx="1073150" cy="5291138"/>
            </a:xfrm>
            <a:custGeom>
              <a:avLst/>
              <a:gdLst/>
              <a:ahLst/>
              <a:cxnLst/>
              <a:rect l="0" t="0" r="r" b="b"/>
              <a:pathLst>
                <a:path w="676" h="3333">
                  <a:moveTo>
                    <a:pt x="0" y="3132"/>
                  </a:moveTo>
                  <a:lnTo>
                    <a:pt x="0" y="3312"/>
                  </a:lnTo>
                  <a:lnTo>
                    <a:pt x="126" y="3333"/>
                  </a:lnTo>
                  <a:lnTo>
                    <a:pt x="676" y="0"/>
                  </a:lnTo>
                  <a:lnTo>
                    <a:pt x="514" y="0"/>
                  </a:lnTo>
                  <a:lnTo>
                    <a:pt x="0" y="31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6" name="Freeform 7"/>
            <p:cNvSpPr/>
            <p:nvPr/>
          </p:nvSpPr>
          <p:spPr bwMode="auto">
            <a:xfrm>
              <a:off x="0" y="0"/>
              <a:ext cx="758825" cy="4624388"/>
            </a:xfrm>
            <a:custGeom>
              <a:avLst/>
              <a:gdLst/>
              <a:ahLst/>
              <a:cxnLst/>
              <a:rect l="0" t="0" r="r" b="b"/>
              <a:pathLst>
                <a:path w="478" h="2913">
                  <a:moveTo>
                    <a:pt x="478" y="0"/>
                  </a:moveTo>
                  <a:lnTo>
                    <a:pt x="318" y="0"/>
                  </a:lnTo>
                  <a:lnTo>
                    <a:pt x="0" y="1938"/>
                  </a:lnTo>
                  <a:lnTo>
                    <a:pt x="0" y="2913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7" name="Freeform 8"/>
            <p:cNvSpPr/>
            <p:nvPr/>
          </p:nvSpPr>
          <p:spPr bwMode="auto">
            <a:xfrm>
              <a:off x="0" y="5662613"/>
              <a:ext cx="906463" cy="1195388"/>
            </a:xfrm>
            <a:custGeom>
              <a:avLst/>
              <a:gdLst/>
              <a:ahLst/>
              <a:cxnLst/>
              <a:rect l="0" t="0" r="r" b="b"/>
              <a:pathLst>
                <a:path w="571" h="753">
                  <a:moveTo>
                    <a:pt x="0" y="0"/>
                  </a:moveTo>
                  <a:lnTo>
                    <a:pt x="0" y="12"/>
                  </a:lnTo>
                  <a:lnTo>
                    <a:pt x="538" y="753"/>
                  </a:lnTo>
                  <a:lnTo>
                    <a:pt x="571" y="7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8" name="Freeform 9"/>
            <p:cNvSpPr/>
            <p:nvPr/>
          </p:nvSpPr>
          <p:spPr bwMode="auto">
            <a:xfrm>
              <a:off x="0" y="5295900"/>
              <a:ext cx="1487488" cy="1562100"/>
            </a:xfrm>
            <a:custGeom>
              <a:avLst/>
              <a:gdLst/>
              <a:ahLst/>
              <a:cxnLst/>
              <a:rect l="0" t="0" r="r" b="b"/>
              <a:pathLst>
                <a:path w="937" h="984">
                  <a:moveTo>
                    <a:pt x="0" y="0"/>
                  </a:moveTo>
                  <a:lnTo>
                    <a:pt x="0" y="3"/>
                  </a:lnTo>
                  <a:lnTo>
                    <a:pt x="901" y="984"/>
                  </a:lnTo>
                  <a:lnTo>
                    <a:pt x="937" y="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9" name="Freeform 10"/>
            <p:cNvSpPr/>
            <p:nvPr/>
          </p:nvSpPr>
          <p:spPr bwMode="auto">
            <a:xfrm>
              <a:off x="0" y="5257800"/>
              <a:ext cx="2132013" cy="1600200"/>
            </a:xfrm>
            <a:custGeom>
              <a:avLst/>
              <a:gdLst/>
              <a:ahLst/>
              <a:cxnLst/>
              <a:rect l="0" t="0" r="r" b="b"/>
              <a:pathLst>
                <a:path w="1343" h="1008">
                  <a:moveTo>
                    <a:pt x="0" y="24"/>
                  </a:moveTo>
                  <a:lnTo>
                    <a:pt x="937" y="1008"/>
                  </a:lnTo>
                  <a:lnTo>
                    <a:pt x="1343" y="1008"/>
                  </a:lnTo>
                  <a:lnTo>
                    <a:pt x="126" y="21"/>
                  </a:lnTo>
                  <a:lnTo>
                    <a:pt x="0" y="0"/>
                  </a:lnTo>
                  <a:lnTo>
                    <a:pt x="0" y="24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0" name="Freeform 11"/>
            <p:cNvSpPr/>
            <p:nvPr/>
          </p:nvSpPr>
          <p:spPr bwMode="auto">
            <a:xfrm>
              <a:off x="0" y="5357813"/>
              <a:ext cx="1377950" cy="1500188"/>
            </a:xfrm>
            <a:custGeom>
              <a:avLst/>
              <a:gdLst/>
              <a:ahLst/>
              <a:cxnLst/>
              <a:rect l="0" t="0" r="r" b="b"/>
              <a:pathLst>
                <a:path w="868" h="945">
                  <a:moveTo>
                    <a:pt x="0" y="192"/>
                  </a:moveTo>
                  <a:lnTo>
                    <a:pt x="571" y="945"/>
                  </a:lnTo>
                  <a:lnTo>
                    <a:pt x="868" y="945"/>
                  </a:lnTo>
                  <a:lnTo>
                    <a:pt x="0" y="0"/>
                  </a:lnTo>
                  <a:lnTo>
                    <a:pt x="0" y="192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2133" y="457201"/>
            <a:ext cx="7704667" cy="1981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134" y="2667000"/>
            <a:ext cx="7704666" cy="3356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8679" y="6116070"/>
            <a:ext cx="8574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12/19/2025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86997" y="6116070"/>
            <a:ext cx="5314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73317" y="6116070"/>
            <a:ext cx="4134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74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  <p:sldLayoutId id="2147483739" r:id="rId14"/>
    <p:sldLayoutId id="2147483740" r:id="rId15"/>
    <p:sldLayoutId id="2147483741" r:id="rId16"/>
    <p:sldLayoutId id="2147483742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lydia-khisa" TargetMode="External"/><Relationship Id="rId2" Type="http://schemas.openxmlformats.org/officeDocument/2006/relationships/hyperlink" Target="https://moringa.instructure.com/courses/1316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38944"/>
            <a:ext cx="7772400" cy="1828800"/>
          </a:xfrm>
        </p:spPr>
        <p:txBody>
          <a:bodyPr>
            <a:normAutofit/>
          </a:bodyPr>
          <a:lstStyle/>
          <a:p>
            <a:pPr algn="ctr"/>
            <a:r>
              <a:rPr sz="4400" dirty="0"/>
              <a:t>Telco Customer Churn Prediction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7857" y="3429000"/>
            <a:ext cx="5279572" cy="2862943"/>
          </a:xfrm>
        </p:spPr>
        <p:txBody>
          <a:bodyPr>
            <a:normAutofit/>
          </a:bodyPr>
          <a:lstStyle/>
          <a:p>
            <a:pPr algn="ctr" fontAlgn="t"/>
            <a:r>
              <a:rPr lang="en-US" dirty="0">
                <a:hlinkClick r:id="rId2"/>
              </a:rPr>
              <a:t>DSF-FT14BP3Rm</a:t>
            </a:r>
            <a:endParaRPr lang="en-US" dirty="0"/>
          </a:p>
          <a:p>
            <a:pPr algn="ctr"/>
            <a:r>
              <a:rPr lang="en-US" dirty="0"/>
              <a:t>PRESENTATION BY : LYDIAH KHISA</a:t>
            </a:r>
          </a:p>
          <a:p>
            <a:pPr algn="ctr"/>
            <a:r>
              <a:rPr lang="en-US" dirty="0" err="1"/>
              <a:t>Linkedin</a:t>
            </a:r>
            <a:r>
              <a:rPr lang="en-US" dirty="0"/>
              <a:t>: </a:t>
            </a:r>
            <a:r>
              <a:rPr lang="en-GB" u="sng" dirty="0">
                <a:hlinkClick r:id="rId3"/>
              </a:rPr>
              <a:t>https://www.linkedin.com/in/lydia-khisa</a:t>
            </a:r>
            <a:r>
              <a:rPr lang="en-GB" dirty="0"/>
              <a:t> </a:t>
            </a:r>
          </a:p>
          <a:p>
            <a:pPr algn="ctr"/>
            <a:r>
              <a:rPr lang="en-US" u="sng" dirty="0" err="1"/>
              <a:t>Github</a:t>
            </a:r>
            <a:r>
              <a:rPr lang="en-US" u="sng" dirty="0"/>
              <a:t>: https://github.com/klydia22</a:t>
            </a:r>
            <a:endParaRPr lang="en-US" dirty="0"/>
          </a:p>
          <a:p>
            <a:endParaRPr lang="en-GB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dirty="0"/>
              <a:t>Customer churn is a </a:t>
            </a:r>
            <a:r>
              <a:rPr lang="en-US" dirty="0"/>
              <a:t>critical</a:t>
            </a:r>
            <a:r>
              <a:rPr dirty="0"/>
              <a:t> revenue challenge in telecommunications.</a:t>
            </a:r>
          </a:p>
          <a:p>
            <a:pPr algn="just"/>
            <a:r>
              <a:rPr dirty="0"/>
              <a:t>Acquiring new customers is more </a:t>
            </a:r>
            <a:r>
              <a:rPr lang="en-US" dirty="0"/>
              <a:t>costly</a:t>
            </a:r>
            <a:r>
              <a:rPr dirty="0"/>
              <a:t> than retaining existing ones.</a:t>
            </a:r>
          </a:p>
          <a:p>
            <a:pPr algn="just"/>
            <a:r>
              <a:rPr lang="en-US" dirty="0"/>
              <a:t>The goal is to</a:t>
            </a:r>
            <a:r>
              <a:rPr dirty="0"/>
              <a:t> predict churn early to </a:t>
            </a:r>
            <a:r>
              <a:rPr lang="en-US" dirty="0"/>
              <a:t>devise</a:t>
            </a:r>
            <a:r>
              <a:rPr dirty="0"/>
              <a:t> proactive retention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The project used </a:t>
            </a:r>
            <a:r>
              <a:rPr dirty="0"/>
              <a:t>Telco Customer Churn dataset with 7,043 customer records.</a:t>
            </a:r>
            <a:endParaRPr lang="en-US" dirty="0"/>
          </a:p>
          <a:p>
            <a:pPr algn="just"/>
            <a:r>
              <a:rPr lang="en-US" dirty="0"/>
              <a:t>Data </a:t>
            </a:r>
            <a:r>
              <a:rPr dirty="0"/>
              <a:t>Features include demographics, services, billing, and contract information.</a:t>
            </a:r>
          </a:p>
          <a:p>
            <a:pPr algn="just"/>
            <a:r>
              <a:rPr dirty="0"/>
              <a:t>Target variable indicates whether a customer churned.</a:t>
            </a:r>
            <a:endParaRPr lang="en-US" dirty="0"/>
          </a:p>
          <a:p>
            <a:pPr algn="just"/>
            <a:r>
              <a:rPr lang="en-US" dirty="0"/>
              <a:t>This dataset provides a realistic representation of customer behavior in the telecom industry</a:t>
            </a:r>
          </a:p>
          <a:p>
            <a:pPr algn="just"/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Exploratory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dirty="0"/>
              <a:t>Churners are the minority class, </a:t>
            </a:r>
            <a:r>
              <a:rPr lang="en-US" dirty="0"/>
              <a:t>hence, </a:t>
            </a:r>
            <a:r>
              <a:rPr dirty="0"/>
              <a:t>creating class imbalance.</a:t>
            </a:r>
          </a:p>
          <a:p>
            <a:pPr algn="just"/>
            <a:r>
              <a:rPr dirty="0"/>
              <a:t>Month-to-month contracts show significantly higher churn rates.</a:t>
            </a:r>
          </a:p>
          <a:p>
            <a:pPr algn="just"/>
            <a:r>
              <a:rPr dirty="0"/>
              <a:t>Customers with low tenure are more likely to churn.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dirty="0"/>
              <a:t>Separated numeric and categorical features.</a:t>
            </a:r>
          </a:p>
          <a:p>
            <a:pPr algn="just"/>
            <a:r>
              <a:rPr dirty="0"/>
              <a:t>Applied imputation, scaling, and encoding using pipelines.</a:t>
            </a:r>
          </a:p>
          <a:p>
            <a:pPr algn="just"/>
            <a:r>
              <a:rPr lang="en-US" dirty="0"/>
              <a:t>Used </a:t>
            </a:r>
            <a:r>
              <a:rPr dirty="0" err="1"/>
              <a:t>ColumnTransformer</a:t>
            </a:r>
            <a:r>
              <a:rPr dirty="0"/>
              <a:t> to ensure consistent preprocessing.</a:t>
            </a:r>
            <a:endParaRPr lang="en-US" dirty="0"/>
          </a:p>
          <a:p>
            <a:pPr algn="just"/>
            <a:r>
              <a:rPr lang="en-US" dirty="0"/>
              <a:t>Preprocessing ensured consistent feature treatment and prevented data leakage.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Handling Class Imbalance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dirty="0"/>
              <a:t>Imbalanced classes bias models toward non-churn predictions.</a:t>
            </a:r>
          </a:p>
          <a:p>
            <a:pPr algn="just"/>
            <a:r>
              <a:rPr dirty="0"/>
              <a:t>SMOTE used to oversample churners in training data only.</a:t>
            </a:r>
          </a:p>
          <a:p>
            <a:pPr algn="just"/>
            <a:r>
              <a:rPr dirty="0"/>
              <a:t>Improved detection of churn cases.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Modeling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Data analyzed using two models; Logistic regression and Decision Tree.</a:t>
            </a:r>
          </a:p>
          <a:p>
            <a:pPr algn="just"/>
            <a:r>
              <a:rPr dirty="0"/>
              <a:t>Logistic Regression used for baseline and interpretability.</a:t>
            </a:r>
          </a:p>
          <a:p>
            <a:pPr algn="just"/>
            <a:r>
              <a:rPr dirty="0"/>
              <a:t>Decision Tree used to capture non-linear churn patterns.</a:t>
            </a:r>
          </a:p>
          <a:p>
            <a:pPr algn="just"/>
            <a:r>
              <a:rPr dirty="0"/>
              <a:t>Models tuned using </a:t>
            </a:r>
            <a:r>
              <a:rPr dirty="0" err="1"/>
              <a:t>GridSearchCV</a:t>
            </a:r>
            <a:r>
              <a:rPr dirty="0"/>
              <a:t> optimizing Recall.</a:t>
            </a:r>
            <a:endParaRPr lang="en-US" dirty="0"/>
          </a:p>
          <a:p>
            <a:pPr algn="just"/>
            <a:r>
              <a:rPr lang="en-US" dirty="0"/>
              <a:t>Recall was prioritized during tuning to minimize missed churners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Model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dirty="0"/>
              <a:t>Models were evaluated primarily using Recall, as missing churners carries high business cost. The tuned Logistic Regression with SMOTE achieved the strongest Recall (~79%), significantly reducing missed churn cases.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Fiber optic internet service shows higher churn risk.</a:t>
            </a:r>
          </a:p>
          <a:p>
            <a:pPr algn="just"/>
            <a:r>
              <a:rPr dirty="0"/>
              <a:t>Contract type and tenure strongly influence churn.</a:t>
            </a:r>
          </a:p>
          <a:p>
            <a:pPr algn="just"/>
            <a:r>
              <a:rPr dirty="0"/>
              <a:t>Long-term contracts reduce likelihood of churn.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Business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dirty="0"/>
              <a:t>Target month-to-month customers with personalized offers.</a:t>
            </a:r>
          </a:p>
          <a:p>
            <a:pPr algn="just"/>
            <a:r>
              <a:rPr lang="en-US" dirty="0"/>
              <a:t>Review fiber optic service pricing and quality.</a:t>
            </a:r>
          </a:p>
          <a:p>
            <a:pPr algn="just"/>
            <a:r>
              <a:rPr dirty="0"/>
              <a:t>Improve onboarding and engagement for new customers.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Data-driven strategies support long-term revenue growth.</a:t>
            </a:r>
          </a:p>
          <a:p>
            <a:pPr algn="just"/>
            <a:r>
              <a:rPr dirty="0"/>
              <a:t>Churn prediction enables proactive customer retention.</a:t>
            </a:r>
          </a:p>
          <a:p>
            <a:pPr algn="just"/>
            <a:r>
              <a:rPr dirty="0"/>
              <a:t>Recall-focused modeling aligns with business priorities.</a:t>
            </a:r>
            <a:endParaRPr lang="en-US" dirty="0"/>
          </a:p>
          <a:p>
            <a:pPr algn="just"/>
            <a:r>
              <a:rPr lang="en-US" dirty="0"/>
              <a:t>These insights support retention and marketing teams in proactive decision-making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C4D53-3C18-5285-A1D7-98B1F56B1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938271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EBEBEB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378</Words>
  <Application>Microsoft Office PowerPoint</Application>
  <PresentationFormat>On-screen Show (4:3)</PresentationFormat>
  <Paragraphs>49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Corbel</vt:lpstr>
      <vt:lpstr>Parallax</vt:lpstr>
      <vt:lpstr>Telco Customer Churn Prediction</vt:lpstr>
      <vt:lpstr>Problem Statement</vt:lpstr>
      <vt:lpstr>Dataset Overview</vt:lpstr>
      <vt:lpstr>Exploratory Analysis</vt:lpstr>
      <vt:lpstr>Data Preprocessing</vt:lpstr>
      <vt:lpstr>Handling Class Imbalance</vt:lpstr>
      <vt:lpstr>Modeling Approach</vt:lpstr>
      <vt:lpstr>Model Performance</vt:lpstr>
      <vt:lpstr>Key Insights</vt:lpstr>
      <vt:lpstr>Business Recommendations</vt:lpstr>
      <vt:lpstr>Conclusion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klydia22.lk@gmail.com</cp:lastModifiedBy>
  <cp:revision>3</cp:revision>
  <dcterms:created xsi:type="dcterms:W3CDTF">2013-01-27T09:14:16Z</dcterms:created>
  <dcterms:modified xsi:type="dcterms:W3CDTF">2025-12-19T08:32:32Z</dcterms:modified>
  <cp:category/>
</cp:coreProperties>
</file>